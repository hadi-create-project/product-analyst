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grocery</c:v>
                  </c:pt>
                  <c:pt idx="1">
                    <c:v>clothing</c:v>
                  </c:pt>
                  <c:pt idx="2">
                    <c:v>electronics</c:v>
                  </c:pt>
                  <c:pt idx="3">
                    <c:v>books</c:v>
                  </c:pt>
                  <c:pt idx="4">
                    <c:v>automotive</c:v>
                  </c:pt>
                  <c:pt idx="5">
                    <c:v>appliances</c:v>
                  </c:pt>
                  <c:pt idx="6">
                    <c:v>beauty</c:v>
                  </c:pt>
                  <c:pt idx="7">
                    <c:v>sports</c:v>
                  </c:pt>
                  <c:pt idx="8">
                    <c:v>toys</c:v>
                  </c:pt>
                  <c:pt idx="9">
                    <c:v>home_kitchen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39.17</c:v>
                </c:pt>
                <c:pt idx="1">
                  <c:v>38.39</c:v>
                </c:pt>
                <c:pt idx="2">
                  <c:v>38.28</c:v>
                </c:pt>
                <c:pt idx="3">
                  <c:v>38.27</c:v>
                </c:pt>
                <c:pt idx="4">
                  <c:v>38.26</c:v>
                </c:pt>
                <c:pt idx="5">
                  <c:v>37.99</c:v>
                </c:pt>
                <c:pt idx="6">
                  <c:v>37.73</c:v>
                </c:pt>
                <c:pt idx="7">
                  <c:v>37.32</c:v>
                </c:pt>
                <c:pt idx="8">
                  <c:v>37.02</c:v>
                </c:pt>
                <c:pt idx="9">
                  <c:v>36.86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Avg Discount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Rho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FC7C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C7C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FC7C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home_kitchen</c:v>
                  </c:pt>
                  <c:pt idx="1">
                    <c:v>appliances</c:v>
                  </c:pt>
                  <c:pt idx="2">
                    <c:v>automotive</c:v>
                  </c:pt>
                  <c:pt idx="3">
                    <c:v>sports</c:v>
                  </c:pt>
                  <c:pt idx="4">
                    <c:v>beauty</c:v>
                  </c:pt>
                  <c:pt idx="5">
                    <c:v>grocery</c:v>
                  </c:pt>
                  <c:pt idx="6">
                    <c:v>toys</c:v>
                  </c:pt>
                  <c:pt idx="7">
                    <c:v>books</c:v>
                  </c:pt>
                  <c:pt idx="8">
                    <c:v>clothing</c:v>
                  </c:pt>
                  <c:pt idx="9">
                    <c:v>electronics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0.413</c:v>
                </c:pt>
                <c:pt idx="1">
                  <c:v>0.327</c:v>
                </c:pt>
                <c:pt idx="2">
                  <c:v>0.303</c:v>
                </c:pt>
                <c:pt idx="3">
                  <c:v>0.162</c:v>
                </c:pt>
                <c:pt idx="4">
                  <c:v>0.115</c:v>
                </c:pt>
                <c:pt idx="5">
                  <c:v>0.086</c:v>
                </c:pt>
                <c:pt idx="6">
                  <c:v>-0.004</c:v>
                </c:pt>
                <c:pt idx="7">
                  <c:v>-0.008</c:v>
                </c:pt>
                <c:pt idx="8">
                  <c:v>-0.012</c:v>
                </c:pt>
                <c:pt idx="9">
                  <c:v>-0.141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Rho (kekuatan korelasi)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Seller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appliances</c:v>
                  </c:pt>
                  <c:pt idx="1">
                    <c:v>beauty</c:v>
                  </c:pt>
                  <c:pt idx="2">
                    <c:v>clothing</c:v>
                  </c:pt>
                  <c:pt idx="3">
                    <c:v>books</c:v>
                  </c:pt>
                  <c:pt idx="4">
                    <c:v>electronics</c:v>
                  </c:pt>
                  <c:pt idx="5">
                    <c:v>toys</c:v>
                  </c:pt>
                  <c:pt idx="6">
                    <c:v>home_kitchen</c:v>
                  </c:pt>
                  <c:pt idx="7">
                    <c:v>grocery</c:v>
                  </c:pt>
                  <c:pt idx="8">
                    <c:v>automotive</c:v>
                  </c:pt>
                  <c:pt idx="9">
                    <c:v>sports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</c:v>
                </c:pt>
                <c:pt idx="1">
                  <c:v>27.4</c:v>
                </c:pt>
                <c:pt idx="2">
                  <c:v>27</c:v>
                </c:pt>
                <c:pt idx="3">
                  <c:v>26.8</c:v>
                </c:pt>
                <c:pt idx="4">
                  <c:v>26.6</c:v>
                </c:pt>
                <c:pt idx="5">
                  <c:v>26.4</c:v>
                </c:pt>
                <c:pt idx="6">
                  <c:v>26.4</c:v>
                </c:pt>
                <c:pt idx="7">
                  <c:v>26.3</c:v>
                </c:pt>
                <c:pt idx="8">
                  <c:v>25.9</c:v>
                </c:pt>
                <c:pt idx="9">
                  <c:v>25.3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Hidden Gem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appliances</c:v>
                  </c:pt>
                  <c:pt idx="1">
                    <c:v>beauty</c:v>
                  </c:pt>
                  <c:pt idx="2">
                    <c:v>clothing</c:v>
                  </c:pt>
                  <c:pt idx="3">
                    <c:v>books</c:v>
                  </c:pt>
                  <c:pt idx="4">
                    <c:v>electronics</c:v>
                  </c:pt>
                  <c:pt idx="5">
                    <c:v>toys</c:v>
                  </c:pt>
                  <c:pt idx="6">
                    <c:v>home_kitchen</c:v>
                  </c:pt>
                  <c:pt idx="7">
                    <c:v>grocery</c:v>
                  </c:pt>
                  <c:pt idx="8">
                    <c:v>automotive</c:v>
                  </c:pt>
                  <c:pt idx="9">
                    <c:v>sports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25.5</c:v>
                </c:pt>
                <c:pt idx="1">
                  <c:v>24</c:v>
                </c:pt>
                <c:pt idx="2">
                  <c:v>24.8</c:v>
                </c:pt>
                <c:pt idx="3">
                  <c:v>26.1</c:v>
                </c:pt>
                <c:pt idx="4">
                  <c:v>25.9</c:v>
                </c:pt>
                <c:pt idx="5">
                  <c:v>25.5</c:v>
                </c:pt>
                <c:pt idx="6">
                  <c:v>24.1</c:v>
                </c:pt>
                <c:pt idx="7">
                  <c:v>26.3</c:v>
                </c:pt>
                <c:pt idx="8">
                  <c:v>26.5</c:v>
                </c:pt>
                <c:pt idx="9">
                  <c:v>26.7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Overhyped</c:v>
                </c:pt>
              </c:strCache>
            </c:strRef>
          </c:tx>
          <c:spPr>
            <a:solidFill>
              <a:srgbClr val="D98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appliances</c:v>
                  </c:pt>
                  <c:pt idx="1">
                    <c:v>beauty</c:v>
                  </c:pt>
                  <c:pt idx="2">
                    <c:v>clothing</c:v>
                  </c:pt>
                  <c:pt idx="3">
                    <c:v>books</c:v>
                  </c:pt>
                  <c:pt idx="4">
                    <c:v>electronics</c:v>
                  </c:pt>
                  <c:pt idx="5">
                    <c:v>toys</c:v>
                  </c:pt>
                  <c:pt idx="6">
                    <c:v>home_kitchen</c:v>
                  </c:pt>
                  <c:pt idx="7">
                    <c:v>grocery</c:v>
                  </c:pt>
                  <c:pt idx="8">
                    <c:v>automotive</c:v>
                  </c:pt>
                  <c:pt idx="9">
                    <c:v>sports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22.2</c:v>
                </c:pt>
                <c:pt idx="1">
                  <c:v>22.7</c:v>
                </c:pt>
                <c:pt idx="2">
                  <c:v>23.1</c:v>
                </c:pt>
                <c:pt idx="3">
                  <c:v>23.2</c:v>
                </c:pt>
                <c:pt idx="4">
                  <c:v>23.4</c:v>
                </c:pt>
                <c:pt idx="5">
                  <c:v>23.7</c:v>
                </c:pt>
                <c:pt idx="6">
                  <c:v>23.7</c:v>
                </c:pt>
                <c:pt idx="7">
                  <c:v>23.8</c:v>
                </c:pt>
                <c:pt idx="8">
                  <c:v>24.3</c:v>
                </c:pt>
                <c:pt idx="9">
                  <c:v>24.9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Risky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appliances</c:v>
                  </c:pt>
                  <c:pt idx="1">
                    <c:v>beauty</c:v>
                  </c:pt>
                  <c:pt idx="2">
                    <c:v>clothing</c:v>
                  </c:pt>
                  <c:pt idx="3">
                    <c:v>books</c:v>
                  </c:pt>
                  <c:pt idx="4">
                    <c:v>electronics</c:v>
                  </c:pt>
                  <c:pt idx="5">
                    <c:v>toys</c:v>
                  </c:pt>
                  <c:pt idx="6">
                    <c:v>home_kitchen</c:v>
                  </c:pt>
                  <c:pt idx="7">
                    <c:v>grocery</c:v>
                  </c:pt>
                  <c:pt idx="8">
                    <c:v>automotive</c:v>
                  </c:pt>
                  <c:pt idx="9">
                    <c:v>sports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24.3</c:v>
                </c:pt>
                <c:pt idx="1">
                  <c:v>25.9</c:v>
                </c:pt>
                <c:pt idx="2">
                  <c:v>25.2</c:v>
                </c:pt>
                <c:pt idx="3">
                  <c:v>23.9</c:v>
                </c:pt>
                <c:pt idx="4">
                  <c:v>24.1</c:v>
                </c:pt>
                <c:pt idx="5">
                  <c:v>24.4</c:v>
                </c:pt>
                <c:pt idx="6">
                  <c:v>25.8</c:v>
                </c:pt>
                <c:pt idx="7">
                  <c:v>23.5</c:v>
                </c:pt>
                <c:pt idx="8">
                  <c:v>23.3</c:v>
                </c:pt>
                <c:pt idx="9">
                  <c:v>23.1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% Produk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PRODUCTS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 2023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Analisis Data End-to-End — dari Business Problem hingga Insight, Rekomendasi &amp; Dampak Bisnis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(BigQuery)   •   Python (pandas, scipy)   •   Looker Studio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Grafik &amp; angka pada deck ini berasal dari dataset simulasi berstruktur identik dengan data asli (lihat Lampiran).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&amp; pertanyaan bisnis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34840" y="27614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Struktur, kelebihan, keterbatasan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7373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92440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92440" y="27614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cleaning, feature 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30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Korelasi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590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data &amp; uji statistik dasar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5661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3730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34840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Produk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4590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 / Hidden Gem / Overhyped / Risky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566160"/>
            <a:ext cx="3429000" cy="16002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3730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92440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Insight, Rekomendasi &amp; Impact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092440" y="4590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akhir &amp; langkah tindak lanjut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bisnis &amp; pertanyaan yang ingin dijawab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 &amp;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ini merepresentasikan katalog multi-kategori Amazon India (bukan single seller) — sudut pandang analisis ini adalah marketplace intelligence, seolah tim strategi Amazon atau seller/brand yang ingin memahami lanskap kompetitif.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0789920" cy="1920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“Amazon memiliki jutaan listing produk lintas kategori dengan variasi harga, diskon, dan rating yang sangat beragam, namun belum ada pemahaman terstruktur mengenai pola mana yang benar-benar mendorong kepercayaan (rating) dan traksi pasar (jumlah rating sebagai proxy penjualan), sehingga strategi pricing dan promosi sering dilakukan tanpa dasar data yang kuat.”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Pertanyaan Bisnis Konkret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8013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mana yang paling “diskon-agresif” vs paling “premium-stabil”?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852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diskon besar berkorelasi dengan traksi pasar (jumlah rating/popularitas)?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mana yang overpriced relatif terhadap rating aktualnya?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9560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mana yang punya produk rating tinggi + volume tinggi (paling kompetitif)?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data, kelebihan, dan keterbatasan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&amp; Objective Analisis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789920" cy="27432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Tujuan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Structure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Distribusi produk &amp; harga per kategori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Strategy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 diskon vs performa (rating, review)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 &amp; Trust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segmen produk (lihat Bagian 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Positioning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band per kategori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&amp; Anomaly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Dokumentasi bersih vs kotor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 vs Keterbatasan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114800"/>
          </a:xfrm>
          <a:prstGeom prst="rect">
            <a:avLst/>
          </a:prstGeom>
          <a:solidFill>
            <a:srgbClr val="EAF7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besar — representatif untuk analisis per kategori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Multi-kategori — analisis komparatif lintas jenis produk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ganda (actual &amp; discount) — bisa hitung % diskon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proxy popularitas (jumlah rating)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212080" cy="4114800"/>
          </a:xfrm>
          <a:prstGeom prst="rect">
            <a:avLst/>
          </a:prstGeom>
          <a:solidFill>
            <a:srgbClr val="FDF1E8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3317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data transaksi asli — jumlah rating hanya proxy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satu waktu, bukan time-series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kolom brand/seller eksplisit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duplikasi logis (varian warna/ukuran terpisah)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cleaning, dan feature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Seberapa “Kotor” Data Sebelum Dibersihkan?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3017520"/>
          </a:xfrm>
          <a:prstGeom prst="rect">
            <a:avLst/>
          </a:prstGeom>
          <a:solidFill>
            <a:srgbClr val="0E1E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Profiling: volume missing &amp; anomali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total_rows,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COUNTIF(ratings IS NULL) AS missing_ratings,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COUNTIF(no_of_ratings IS NULL)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missing_no_of_ratings,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COUNTIF(actual_price = 0)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zero_actual_price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`product_analiysis.amazon_product`;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665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 (raw)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18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11.536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496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rating/review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18320" y="2496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 (6.0%)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 terdeteksi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0" y="32095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 (2.9%)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3922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harga (price=0)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418320" y="39227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(0.5%)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0789920" cy="9144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920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Missing rating/review TIDAK di-drop — diberi flag has_rating, karena kosong berarti “belum ada ulasan”, bukan data hilang acak.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CLEANING &amp;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Data Mentah ke Fact Table Siap Analisis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114800"/>
          </a:xfrm>
          <a:prstGeom prst="rect">
            <a:avLst/>
          </a:prstGeom>
          <a:solidFill>
            <a:srgbClr val="0E1E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Dedup: 1 produk unik = 1 ASIN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OVER 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BY asin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source_id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dedup_rank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WHERE dedup_rank = 1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Feature engineering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discount_pct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ROUND(((actual_price - discount_price)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actual_price) * 100, 2)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rating_tier = CASE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rating &lt; 3.5 THEN 'Low'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rating &lt; 4.2 THEN 'Medium'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'High' 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price_bucket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NTILE(3) OVER 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sub_category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actual_price)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7665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PEMBERSIHAN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11.536 baris raw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6404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dari scraping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2770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− 336 duplikat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64040" y="2770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sama, listing ganda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33924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11.200 baris unik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64040" y="33924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ASIN = 1 produk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40142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− 56 anomali harga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64040" y="40142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actual_price = 0, diflag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4636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11.149 baris final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4636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fact_products_clean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Korelasi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data dan uji statistik dasar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Harga per Kategori</a:t>
            </a:r>
            <a:endParaRPr lang="en-US" sz="3000" dirty="0"/>
          </a:p>
        </p:txBody>
      </p:sp>
      <p:pic>
        <p:nvPicPr>
          <p:cNvPr id="4" name="Image 0" descr="/home/claude/assets/chart1_pri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4980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108960" cy="4206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appliances punya harga median tertinggi, sementara grocery paling terjangkau.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 antar kategori sangat lebar — alasan mengapa seluruh analisis lanjutan WAJIB distratifikasi per kategori, bukan digabung global.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Rata-rata Diskon (%) per Kategori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108960" cy="4206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grocery memberi diskon rata-rata tertinggi (39.2%), sementara home_kitchen paling rendah (36.9%).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diskon antar kategori relatif moderat pada data ini.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Sebaran Rating vs Jumlah Review</a:t>
            </a:r>
            <a:endParaRPr lang="en-US" sz="3000" dirty="0"/>
          </a:p>
        </p:txBody>
      </p:sp>
      <p:pic>
        <p:nvPicPr>
          <p:cNvPr id="4" name="Image 0" descr="/home/claude/assets/chart5_scatter_rating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4980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108960" cy="448056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dengan review sangat banyak cenderung memiliki rating stabil di kisaran 4.0-4.5.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umum di marketplace: makin banyak data (review), makin jarang rating ekstrem muncul.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KORELASI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Metodologi: Korelasi Spearman per Kategori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Pertanyaan: apakah diskon besar benar-benar berhubungan dengan jumlah review (proxy popularitas)? Dihitung PER KATEGORI untuk menghindari Simpson's Paradox — skala tiap kategori sangat berbeda, jadi korelasi global bisa menyesatkan.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0789920" cy="3063240"/>
          </a:xfrm>
          <a:prstGeom prst="rect">
            <a:avLst/>
          </a:prstGeom>
          <a:solidFill>
            <a:srgbClr val="0E1E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26080"/>
            <a:ext cx="10149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korelasi_per_kategori(data, x, y, min_n=10):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hasil = []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kategori, grup in data.groupby("main_category"):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 = grup[[x, y]].dropna()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len(sub) &lt; min_n: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rho, p_value = stats.spearmanr(sub[x], sub[y])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hasil.append({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"kategori": kategori, "n": len(sub),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"rho": round(rho, 3), "p_value": round(p_value, 4),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"signifikan": "Ya" if p_value &lt; 0.05 else "Tidak"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pd.DataFrame(hasil).sort_values("rho", ascending=False)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KORELASI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Diskon % vs Jumlah Review per Kategori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Hijau = signifikan (p&lt;0.05)   |   Abu-abu = tidak signifikan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0" y="1645920"/>
            <a:ext cx="3108960" cy="43434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2651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10 kategori, 7 signifikan.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Terkuat positif: home_kitchen (rho=0.413)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Negatif: electronics (rho=-0.141)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“Diskon besar = makin populer” TIDAK berlaku seragam di semua kategori.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Segmentasi Produk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Seller, Hidden Gem, Overhyped, Risky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PRODUK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Segmentasi (Rule-Based)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aturan IF-ELSE sederhana (bukan Machine Learning), memakai median PER KATEGORI sebagai baseline.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32918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87168"/>
            <a:ext cx="274320" cy="274320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Seller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≥ median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≥ median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unggulan terbukti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32918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2487168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Gem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≥ median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&lt; median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Berkualitas, belum populer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560320" cy="32918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487168"/>
            <a:ext cx="274320" cy="274320"/>
          </a:xfrm>
          <a:prstGeom prst="ellipse">
            <a:avLst/>
          </a:prstGeom>
          <a:solidFill>
            <a:srgbClr val="D98E0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Overhyped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&lt; median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≥ median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Populer, kualitas meragukan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2286000"/>
            <a:ext cx="2560320" cy="32918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0" y="2487168"/>
            <a:ext cx="274320" cy="274320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&lt; median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&lt; median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3931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investigasi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PRODUK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Segmen per Kategori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0607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0607040" cy="59436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943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Keseluruhan: Best Seller 26.7% | Hidden Gem 25.4% | Overhyped 23.4% | Risky 24.5%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Insight, Rekomendasi &amp;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akhir dan langkah tindak lanjut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Temuan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91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final: 11.149 produk unik di 10 kategori, setelah 336 duplikat dibuang.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91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786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adalah kategori termahal; grocery paling terjangkau — rentang harga antar kategori sangat lebar.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91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98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diskon vs popularitas TIDAK seragam: signifikan di 7 dari 10 kategori, arah berbeda-beda.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34256"/>
            <a:ext cx="91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6110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rating vs popularitas signifikan hanya di 3 dari 10 kategori.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75504"/>
            <a:ext cx="91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0235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 produk masuk segmen Overhyped — kandidat utama investigasi kualitas.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Insight Bisnis Kunci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1148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Diskon Bukan Jaminan Universal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home_kitchen menunjukkan diskon besar berbanding lurus dengan traksi, tapi electronics justru sebaliknya — pembeli di kategori ini lebih sensitif kualitas/brand dibanding harga.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737360"/>
            <a:ext cx="3429000" cy="41148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D98E00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560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Kesenjangan Popularitas vs Kualitas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 produk "Overhyped" menunjukkan sebagian produk populer belum tentu berkualitas sesuai ekspektasi — risiko reputasi jika tidak ditindaklanjuti.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429000" cy="411480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965960"/>
            <a:ext cx="457200" cy="457200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2440" y="2560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Peluang Terpendam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9244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 produk "Hidden Gem" berkualitas baik tapi belum dikenal — peluang didorong lewat promosi, bukan diskon harga.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per Stakeholder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Pricing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strategi diskon seragam lintas kategori — sesuaikan berdasarkan hasil korelasi per kategori.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2743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16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Kualitas/Merchandising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81635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produk di segmen Overhyped — cek keluhan, deskripsi, dan kualitas listing.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2743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9534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89534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promosi non-diskon untuk produk Hidden Gem yang kualitasnya sudah terbukti.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2743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97433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Kategori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97433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price_bucket untuk evaluasi positioning — bandingkan harga Premium dengan rating aktual.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yang Diharapkan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920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 Budget Promosi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diskon “buta” di kategori tidak sensitif diskon; alokasikan ke kategori yang responsif.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212080" cy="1920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Reputasi &amp; Kepuasan Pelanggan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dini produk Overhyped mengurangi risiko review negatif menumpuk.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12080" cy="1920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Pertumbuhan Produk Potensial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 yang dipromosikan tepat bisa naik kelas tanpa mengorbankan margin.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212080" cy="1920240"/>
          </a:xfrm>
          <a:prstGeom prst="rect">
            <a:avLst/>
          </a:prstGeom>
          <a:solidFill>
            <a:srgbClr val="EAF4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14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Berbasis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pricing &amp; kategori punya dasar kuantitatif, bukan asumsi.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LIMITASI &amp; METODOLOGI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Limitasi &amp; Keputusan yang Disengaja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LIMITASI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review_count adalah proxy popularitas, BUKAN data penjualan aktual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 satu waktu — tidak bisa simpulkan tren dari waktu ke waktu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menunjukkan hubungan, bukan sebab-akibat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deck ini SIMULASI struktur — wajib divalidasi ulang dengan data asli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0789920" cy="1828800"/>
          </a:xfrm>
          <a:prstGeom prst="rect">
            <a:avLst/>
          </a:prstGeom>
          <a:solidFill>
            <a:srgbClr val="FDF1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METODOLOGI YANG DISENGAJA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statistik lanjutan (Kruskal-Wallis, Mann-Whitney post-hoc, FDR correction) sengaja TIDAK disertakan di laporan utama ini — bukan karena tidak diketahui, tapi untuk menjaga agar seluruh analisis yang dipresentasikan bisa dipertanggungjawabkan sepenuhnya end-to-end.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Pipeline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234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(amazon_product)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7" name="Shape 5"/>
          <p:cNvSpPr/>
          <p:nvPr/>
        </p:nvSpPr>
        <p:spPr>
          <a:xfrm>
            <a:off x="1887583" y="2834640"/>
            <a:ext cx="1234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887583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2023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10" name="Shape 8"/>
          <p:cNvSpPr/>
          <p:nvPr/>
        </p:nvSpPr>
        <p:spPr>
          <a:xfrm>
            <a:off x="3226526" y="2834640"/>
            <a:ext cx="1234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26526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&amp; Dedup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60966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5469" y="2834640"/>
            <a:ext cx="1234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65469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99909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4411" y="2834640"/>
            <a:ext cx="1234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904411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Layer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8851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243354" y="2834640"/>
            <a:ext cx="123444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243354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Korelasi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77794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582297" y="2834640"/>
            <a:ext cx="123444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582297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16737" y="3172968"/>
            <a:ext cx="67927" cy="320040"/>
          </a:xfrm>
          <a:prstGeom prst="rightArrow">
            <a:avLst/>
          </a:prstGeom>
          <a:solidFill>
            <a:srgbClr val="BFC7C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1240" y="2834640"/>
            <a:ext cx="1234440" cy="100584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2834640"/>
            <a:ext cx="1234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pendukung: amazon_products_pipeline.sql • Amazon_Products_Portfolio_Edition.ipynb • README_Data_Dictionary.md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Products Sales Analysis 2023 — Data Analytics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2026-10-02T08:08:43Z</dcterms:created>
  <dcterms:modified xsi:type="dcterms:W3CDTF">2026-10-02T08:08:43Z</dcterms:modified>
</cp:coreProperties>
</file>